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71" r:id="rId4"/>
  </p:sldMasterIdLst>
  <p:notesMasterIdLst>
    <p:notesMasterId r:id="rId10"/>
  </p:notesMasterIdLst>
  <p:handoutMasterIdLst>
    <p:handoutMasterId r:id="rId11"/>
  </p:handoutMasterIdLst>
  <p:sldIdLst>
    <p:sldId id="260" r:id="rId5"/>
    <p:sldId id="274" r:id="rId6"/>
    <p:sldId id="273" r:id="rId7"/>
    <p:sldId id="275" r:id="rId8"/>
    <p:sldId id="27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133">
          <p15:clr>
            <a:srgbClr val="9AA0A6"/>
          </p15:clr>
        </p15:guide>
        <p15:guide id="2" pos="3096">
          <p15:clr>
            <a:srgbClr val="9AA0A6"/>
          </p15:clr>
        </p15:guide>
        <p15:guide id="3" orient="horz" pos="878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D9F9FD"/>
    <a:srgbClr val="5F237F"/>
    <a:srgbClr val="00FF68"/>
    <a:srgbClr val="AEFA5F"/>
    <a:srgbClr val="5A7F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0D1A57-FB72-4133-9910-BBE9CA42CF8F}">
  <a:tblStyle styleId="{BC0D1A57-FB72-4133-9910-BBE9CA42CF8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8"/>
          </a:solidFill>
        </a:fill>
      </a:tcStyle>
    </a:wholeTbl>
    <a:band1H>
      <a:tcTxStyle/>
      <a:tcStyle>
        <a:tcBdr/>
        <a:fill>
          <a:solidFill>
            <a:srgbClr val="CAC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C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1"/>
    <p:restoredTop sz="94930"/>
  </p:normalViewPr>
  <p:slideViewPr>
    <p:cSldViewPr snapToGrid="0">
      <p:cViewPr>
        <p:scale>
          <a:sx n="120" d="100"/>
          <a:sy n="120" d="100"/>
        </p:scale>
        <p:origin x="1336" y="464"/>
      </p:cViewPr>
      <p:guideLst>
        <p:guide pos="6133"/>
        <p:guide pos="3096"/>
        <p:guide orient="horz" pos="8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72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77612F-4A3A-E71D-3C10-66AD6AA14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C0058-20BA-94EB-29F5-8F3AEB992A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6CB9B-16D1-7048-ADC8-0A3F3A2FB385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500AE-0E4D-F81A-09A8-E1F2CAA324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4A343-30CE-08D5-FCE9-07AE7A7342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99BFA-D95F-7B4C-86A4-1E3776E7E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14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12C9D-253F-827E-9F7C-AC90FF78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26387-7FA2-F249-69EF-6296B136D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28711-66FE-5B80-1F6C-D86FB32AC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24B71-FE40-B360-9057-E3D967308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3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5A017-4121-A762-8FC9-579F68239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B2684-4011-AF0E-9AAC-98A30308A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5E46F-253F-B95D-4358-51DCF544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AE914-E569-F040-FF42-6E66B8563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2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01FFC3-B59B-47ED-5DA4-350917A31EBF}"/>
              </a:ext>
            </a:extLst>
          </p:cNvPr>
          <p:cNvSpPr/>
          <p:nvPr userDrawn="1"/>
        </p:nvSpPr>
        <p:spPr>
          <a:xfrm rot="18560360">
            <a:off x="9824093" y="6460507"/>
            <a:ext cx="790251" cy="525328"/>
          </a:xfrm>
          <a:custGeom>
            <a:avLst/>
            <a:gdLst>
              <a:gd name="connsiteX0" fmla="*/ 0 w 1025469"/>
              <a:gd name="connsiteY0" fmla="*/ 0 h 508360"/>
              <a:gd name="connsiteX1" fmla="*/ 1025469 w 1025469"/>
              <a:gd name="connsiteY1" fmla="*/ 0 h 508360"/>
              <a:gd name="connsiteX2" fmla="*/ 1025469 w 1025469"/>
              <a:gd name="connsiteY2" fmla="*/ 508360 h 508360"/>
              <a:gd name="connsiteX3" fmla="*/ 0 w 1025469"/>
              <a:gd name="connsiteY3" fmla="*/ 508360 h 508360"/>
              <a:gd name="connsiteX4" fmla="*/ 0 w 1025469"/>
              <a:gd name="connsiteY4" fmla="*/ 0 h 508360"/>
              <a:gd name="connsiteX0" fmla="*/ 0 w 1025469"/>
              <a:gd name="connsiteY0" fmla="*/ 0 h 521149"/>
              <a:gd name="connsiteX1" fmla="*/ 1025469 w 1025469"/>
              <a:gd name="connsiteY1" fmla="*/ 0 h 521149"/>
              <a:gd name="connsiteX2" fmla="*/ 1025469 w 1025469"/>
              <a:gd name="connsiteY2" fmla="*/ 508360 h 521149"/>
              <a:gd name="connsiteX3" fmla="*/ 668863 w 1025469"/>
              <a:gd name="connsiteY3" fmla="*/ 521149 h 521149"/>
              <a:gd name="connsiteX4" fmla="*/ 0 w 1025469"/>
              <a:gd name="connsiteY4" fmla="*/ 0 h 521149"/>
              <a:gd name="connsiteX0" fmla="*/ 0 w 785784"/>
              <a:gd name="connsiteY0" fmla="*/ 0 h 522872"/>
              <a:gd name="connsiteX1" fmla="*/ 785784 w 785784"/>
              <a:gd name="connsiteY1" fmla="*/ 1723 h 522872"/>
              <a:gd name="connsiteX2" fmla="*/ 785784 w 785784"/>
              <a:gd name="connsiteY2" fmla="*/ 510083 h 522872"/>
              <a:gd name="connsiteX3" fmla="*/ 429178 w 785784"/>
              <a:gd name="connsiteY3" fmla="*/ 522872 h 522872"/>
              <a:gd name="connsiteX4" fmla="*/ 0 w 785784"/>
              <a:gd name="connsiteY4" fmla="*/ 0 h 522872"/>
              <a:gd name="connsiteX0" fmla="*/ 0 w 785784"/>
              <a:gd name="connsiteY0" fmla="*/ 0 h 524885"/>
              <a:gd name="connsiteX1" fmla="*/ 785784 w 785784"/>
              <a:gd name="connsiteY1" fmla="*/ 1723 h 524885"/>
              <a:gd name="connsiteX2" fmla="*/ 785784 w 785784"/>
              <a:gd name="connsiteY2" fmla="*/ 510083 h 524885"/>
              <a:gd name="connsiteX3" fmla="*/ 426722 w 785784"/>
              <a:gd name="connsiteY3" fmla="*/ 524885 h 524885"/>
              <a:gd name="connsiteX4" fmla="*/ 0 w 785784"/>
              <a:gd name="connsiteY4" fmla="*/ 0 h 524885"/>
              <a:gd name="connsiteX0" fmla="*/ 0 w 787796"/>
              <a:gd name="connsiteY0" fmla="*/ 0 h 527341"/>
              <a:gd name="connsiteX1" fmla="*/ 787796 w 787796"/>
              <a:gd name="connsiteY1" fmla="*/ 4179 h 527341"/>
              <a:gd name="connsiteX2" fmla="*/ 787796 w 787796"/>
              <a:gd name="connsiteY2" fmla="*/ 512539 h 527341"/>
              <a:gd name="connsiteX3" fmla="*/ 428734 w 787796"/>
              <a:gd name="connsiteY3" fmla="*/ 527341 h 527341"/>
              <a:gd name="connsiteX4" fmla="*/ 0 w 787796"/>
              <a:gd name="connsiteY4" fmla="*/ 0 h 527341"/>
              <a:gd name="connsiteX0" fmla="*/ 0 w 790251"/>
              <a:gd name="connsiteY0" fmla="*/ 0 h 525328"/>
              <a:gd name="connsiteX1" fmla="*/ 790251 w 790251"/>
              <a:gd name="connsiteY1" fmla="*/ 2166 h 525328"/>
              <a:gd name="connsiteX2" fmla="*/ 790251 w 790251"/>
              <a:gd name="connsiteY2" fmla="*/ 510526 h 525328"/>
              <a:gd name="connsiteX3" fmla="*/ 431189 w 790251"/>
              <a:gd name="connsiteY3" fmla="*/ 525328 h 525328"/>
              <a:gd name="connsiteX4" fmla="*/ 0 w 790251"/>
              <a:gd name="connsiteY4" fmla="*/ 0 h 525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0251" h="525328">
                <a:moveTo>
                  <a:pt x="0" y="0"/>
                </a:moveTo>
                <a:lnTo>
                  <a:pt x="790251" y="2166"/>
                </a:lnTo>
                <a:lnTo>
                  <a:pt x="790251" y="510526"/>
                </a:lnTo>
                <a:lnTo>
                  <a:pt x="431189" y="5253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D17A2-B6CE-DB5E-B411-9458E105AFC5}"/>
              </a:ext>
            </a:extLst>
          </p:cNvPr>
          <p:cNvSpPr/>
          <p:nvPr userDrawn="1"/>
        </p:nvSpPr>
        <p:spPr>
          <a:xfrm rot="18560360">
            <a:off x="10297997" y="6246649"/>
            <a:ext cx="1297986" cy="607461"/>
          </a:xfrm>
          <a:custGeom>
            <a:avLst/>
            <a:gdLst>
              <a:gd name="connsiteX0" fmla="*/ 0 w 1444173"/>
              <a:gd name="connsiteY0" fmla="*/ 0 h 599088"/>
              <a:gd name="connsiteX1" fmla="*/ 1444173 w 1444173"/>
              <a:gd name="connsiteY1" fmla="*/ 0 h 599088"/>
              <a:gd name="connsiteX2" fmla="*/ 1444173 w 1444173"/>
              <a:gd name="connsiteY2" fmla="*/ 599088 h 599088"/>
              <a:gd name="connsiteX3" fmla="*/ 0 w 1444173"/>
              <a:gd name="connsiteY3" fmla="*/ 599088 h 599088"/>
              <a:gd name="connsiteX4" fmla="*/ 0 w 1444173"/>
              <a:gd name="connsiteY4" fmla="*/ 0 h 599088"/>
              <a:gd name="connsiteX0" fmla="*/ 0 w 1444173"/>
              <a:gd name="connsiteY0" fmla="*/ 0 h 599088"/>
              <a:gd name="connsiteX1" fmla="*/ 1444173 w 1444173"/>
              <a:gd name="connsiteY1" fmla="*/ 0 h 599088"/>
              <a:gd name="connsiteX2" fmla="*/ 1444173 w 1444173"/>
              <a:gd name="connsiteY2" fmla="*/ 599088 h 599088"/>
              <a:gd name="connsiteX3" fmla="*/ 632871 w 1444173"/>
              <a:gd name="connsiteY3" fmla="*/ 596844 h 599088"/>
              <a:gd name="connsiteX4" fmla="*/ 0 w 1444173"/>
              <a:gd name="connsiteY4" fmla="*/ 0 h 599088"/>
              <a:gd name="connsiteX0" fmla="*/ 0 w 1290104"/>
              <a:gd name="connsiteY0" fmla="*/ 0 h 600914"/>
              <a:gd name="connsiteX1" fmla="*/ 1290104 w 1290104"/>
              <a:gd name="connsiteY1" fmla="*/ 1826 h 600914"/>
              <a:gd name="connsiteX2" fmla="*/ 1290104 w 1290104"/>
              <a:gd name="connsiteY2" fmla="*/ 600914 h 600914"/>
              <a:gd name="connsiteX3" fmla="*/ 478802 w 1290104"/>
              <a:gd name="connsiteY3" fmla="*/ 598670 h 600914"/>
              <a:gd name="connsiteX4" fmla="*/ 0 w 1290104"/>
              <a:gd name="connsiteY4" fmla="*/ 0 h 600914"/>
              <a:gd name="connsiteX0" fmla="*/ 0 w 1304744"/>
              <a:gd name="connsiteY0" fmla="*/ 0 h 607461"/>
              <a:gd name="connsiteX1" fmla="*/ 1304744 w 1304744"/>
              <a:gd name="connsiteY1" fmla="*/ 8373 h 607461"/>
              <a:gd name="connsiteX2" fmla="*/ 1304744 w 1304744"/>
              <a:gd name="connsiteY2" fmla="*/ 607461 h 607461"/>
              <a:gd name="connsiteX3" fmla="*/ 493442 w 1304744"/>
              <a:gd name="connsiteY3" fmla="*/ 605217 h 607461"/>
              <a:gd name="connsiteX4" fmla="*/ 0 w 1304744"/>
              <a:gd name="connsiteY4" fmla="*/ 0 h 607461"/>
              <a:gd name="connsiteX0" fmla="*/ 0 w 1304744"/>
              <a:gd name="connsiteY0" fmla="*/ 0 h 607461"/>
              <a:gd name="connsiteX1" fmla="*/ 1304744 w 1304744"/>
              <a:gd name="connsiteY1" fmla="*/ 8373 h 607461"/>
              <a:gd name="connsiteX2" fmla="*/ 1304744 w 1304744"/>
              <a:gd name="connsiteY2" fmla="*/ 607461 h 607461"/>
              <a:gd name="connsiteX3" fmla="*/ 493442 w 1304744"/>
              <a:gd name="connsiteY3" fmla="*/ 605218 h 607461"/>
              <a:gd name="connsiteX4" fmla="*/ 0 w 1304744"/>
              <a:gd name="connsiteY4" fmla="*/ 0 h 60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4744" h="607461">
                <a:moveTo>
                  <a:pt x="0" y="0"/>
                </a:moveTo>
                <a:lnTo>
                  <a:pt x="1304744" y="8373"/>
                </a:lnTo>
                <a:lnTo>
                  <a:pt x="1304744" y="607461"/>
                </a:lnTo>
                <a:lnTo>
                  <a:pt x="493442" y="605218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9E14A31-1944-3944-9052-B435FCBB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05" y="3021012"/>
            <a:ext cx="8140700" cy="815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EDA4B0-63FD-0241-AE06-DA35E0057028}"/>
              </a:ext>
            </a:extLst>
          </p:cNvPr>
          <p:cNvGrpSpPr/>
          <p:nvPr userDrawn="1"/>
        </p:nvGrpSpPr>
        <p:grpSpPr>
          <a:xfrm>
            <a:off x="755362" y="2286441"/>
            <a:ext cx="7371340" cy="793167"/>
            <a:chOff x="755362" y="3154346"/>
            <a:chExt cx="7371340" cy="7931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8F117BC-1C76-4B43-B91A-552442FDD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362" y="3154346"/>
              <a:ext cx="2747363" cy="58780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9B22B5-8F54-534B-A817-6A3D00C279B3}"/>
                </a:ext>
              </a:extLst>
            </p:cNvPr>
            <p:cNvSpPr txBox="1"/>
            <p:nvPr/>
          </p:nvSpPr>
          <p:spPr>
            <a:xfrm>
              <a:off x="4116097" y="3454400"/>
              <a:ext cx="40106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Cloud and Analytics for Modern Enterprises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0BC28D0-767C-0746-92CB-A8E2AC3CE0EE}"/>
                </a:ext>
              </a:extLst>
            </p:cNvPr>
            <p:cNvSpPr/>
            <p:nvPr/>
          </p:nvSpPr>
          <p:spPr>
            <a:xfrm>
              <a:off x="3864892" y="3233138"/>
              <a:ext cx="45719" cy="71437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A8C4BDE-BA83-27A9-88C9-E6F0EAC871B5}"/>
              </a:ext>
            </a:extLst>
          </p:cNvPr>
          <p:cNvSpPr/>
          <p:nvPr userDrawn="1"/>
        </p:nvSpPr>
        <p:spPr>
          <a:xfrm rot="18474677">
            <a:off x="10969334" y="6012479"/>
            <a:ext cx="1648132" cy="1051036"/>
          </a:xfrm>
          <a:custGeom>
            <a:avLst/>
            <a:gdLst>
              <a:gd name="connsiteX0" fmla="*/ 0 w 1928767"/>
              <a:gd name="connsiteY0" fmla="*/ 0 h 1074441"/>
              <a:gd name="connsiteX1" fmla="*/ 1928767 w 1928767"/>
              <a:gd name="connsiteY1" fmla="*/ 0 h 1074441"/>
              <a:gd name="connsiteX2" fmla="*/ 1928767 w 1928767"/>
              <a:gd name="connsiteY2" fmla="*/ 1074441 h 1074441"/>
              <a:gd name="connsiteX3" fmla="*/ 0 w 1928767"/>
              <a:gd name="connsiteY3" fmla="*/ 1074441 h 1074441"/>
              <a:gd name="connsiteX4" fmla="*/ 0 w 1928767"/>
              <a:gd name="connsiteY4" fmla="*/ 0 h 1074441"/>
              <a:gd name="connsiteX0" fmla="*/ 0 w 1928767"/>
              <a:gd name="connsiteY0" fmla="*/ 0 h 1074441"/>
              <a:gd name="connsiteX1" fmla="*/ 1928767 w 1928767"/>
              <a:gd name="connsiteY1" fmla="*/ 0 h 1074441"/>
              <a:gd name="connsiteX2" fmla="*/ 1928767 w 1928767"/>
              <a:gd name="connsiteY2" fmla="*/ 1074441 h 1074441"/>
              <a:gd name="connsiteX3" fmla="*/ 1168641 w 1928767"/>
              <a:gd name="connsiteY3" fmla="*/ 856109 h 1074441"/>
              <a:gd name="connsiteX4" fmla="*/ 0 w 1928767"/>
              <a:gd name="connsiteY4" fmla="*/ 0 h 1074441"/>
              <a:gd name="connsiteX0" fmla="*/ 0 w 1928767"/>
              <a:gd name="connsiteY0" fmla="*/ 0 h 1074441"/>
              <a:gd name="connsiteX1" fmla="*/ 1928767 w 1928767"/>
              <a:gd name="connsiteY1" fmla="*/ 0 h 1074441"/>
              <a:gd name="connsiteX2" fmla="*/ 1928767 w 1928767"/>
              <a:gd name="connsiteY2" fmla="*/ 1074441 h 1074441"/>
              <a:gd name="connsiteX3" fmla="*/ 1085451 w 1928767"/>
              <a:gd name="connsiteY3" fmla="*/ 1037695 h 1074441"/>
              <a:gd name="connsiteX4" fmla="*/ 0 w 1928767"/>
              <a:gd name="connsiteY4" fmla="*/ 0 h 1074441"/>
              <a:gd name="connsiteX0" fmla="*/ 0 w 1928767"/>
              <a:gd name="connsiteY0" fmla="*/ 0 h 1037695"/>
              <a:gd name="connsiteX1" fmla="*/ 1928767 w 1928767"/>
              <a:gd name="connsiteY1" fmla="*/ 0 h 1037695"/>
              <a:gd name="connsiteX2" fmla="*/ 1926476 w 1928767"/>
              <a:gd name="connsiteY2" fmla="*/ 402394 h 1037695"/>
              <a:gd name="connsiteX3" fmla="*/ 1085451 w 1928767"/>
              <a:gd name="connsiteY3" fmla="*/ 1037695 h 1037695"/>
              <a:gd name="connsiteX4" fmla="*/ 0 w 1928767"/>
              <a:gd name="connsiteY4" fmla="*/ 0 h 1037695"/>
              <a:gd name="connsiteX0" fmla="*/ 0 w 1928767"/>
              <a:gd name="connsiteY0" fmla="*/ 0 h 1049086"/>
              <a:gd name="connsiteX1" fmla="*/ 1928767 w 1928767"/>
              <a:gd name="connsiteY1" fmla="*/ 0 h 1049086"/>
              <a:gd name="connsiteX2" fmla="*/ 1926476 w 1928767"/>
              <a:gd name="connsiteY2" fmla="*/ 402394 h 1049086"/>
              <a:gd name="connsiteX3" fmla="*/ 1094322 w 1928767"/>
              <a:gd name="connsiteY3" fmla="*/ 1049086 h 1049086"/>
              <a:gd name="connsiteX4" fmla="*/ 0 w 1928767"/>
              <a:gd name="connsiteY4" fmla="*/ 0 h 1049086"/>
              <a:gd name="connsiteX0" fmla="*/ 0 w 1640896"/>
              <a:gd name="connsiteY0" fmla="*/ 1505 h 1049086"/>
              <a:gd name="connsiteX1" fmla="*/ 1640896 w 1640896"/>
              <a:gd name="connsiteY1" fmla="*/ 0 h 1049086"/>
              <a:gd name="connsiteX2" fmla="*/ 1638605 w 1640896"/>
              <a:gd name="connsiteY2" fmla="*/ 402394 h 1049086"/>
              <a:gd name="connsiteX3" fmla="*/ 806451 w 1640896"/>
              <a:gd name="connsiteY3" fmla="*/ 1049086 h 1049086"/>
              <a:gd name="connsiteX4" fmla="*/ 0 w 1640896"/>
              <a:gd name="connsiteY4" fmla="*/ 1505 h 1049086"/>
              <a:gd name="connsiteX0" fmla="*/ 0 w 1648132"/>
              <a:gd name="connsiteY0" fmla="*/ 0 h 1051036"/>
              <a:gd name="connsiteX1" fmla="*/ 1648132 w 1648132"/>
              <a:gd name="connsiteY1" fmla="*/ 1950 h 1051036"/>
              <a:gd name="connsiteX2" fmla="*/ 1645841 w 1648132"/>
              <a:gd name="connsiteY2" fmla="*/ 404344 h 1051036"/>
              <a:gd name="connsiteX3" fmla="*/ 813687 w 1648132"/>
              <a:gd name="connsiteY3" fmla="*/ 1051036 h 1051036"/>
              <a:gd name="connsiteX4" fmla="*/ 0 w 1648132"/>
              <a:gd name="connsiteY4" fmla="*/ 0 h 1051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132" h="1051036">
                <a:moveTo>
                  <a:pt x="0" y="0"/>
                </a:moveTo>
                <a:lnTo>
                  <a:pt x="1648132" y="1950"/>
                </a:lnTo>
                <a:cubicBezTo>
                  <a:pt x="1647368" y="136081"/>
                  <a:pt x="1646605" y="270213"/>
                  <a:pt x="1645841" y="404344"/>
                </a:cubicBezTo>
                <a:lnTo>
                  <a:pt x="813687" y="105103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11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03F8255-434A-4B80-1E86-D07F486D6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8797" y="780793"/>
            <a:ext cx="11801393" cy="5852482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5BD892-38A5-CCBE-0EB6-3F3E4B80A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D67DFC4-2299-6E72-3E3F-D09495F7F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9AB7BF-7353-2A21-4D2D-96A3659C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" y="-742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2800" b="1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06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C8BE5-8308-E9C1-F35F-E4A039FFA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8797" y="780793"/>
            <a:ext cx="11801393" cy="58524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D51404-232C-516F-B10F-902497952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770E685-9E7B-824E-FE8E-93CF898CA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37CD3-A1A9-1AFC-0646-1010939CC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" y="5651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sz="2800" b="1" baseline="0"/>
            </a:lvl1pPr>
          </a:lstStyle>
          <a:p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66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D5BF-2AB0-3949-A333-718D231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073F-8310-D94B-90E4-A6AE0FDB2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1FCDBA-3138-36B9-B265-60BB11D35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4F64B3-DC30-406A-F800-862BE7AC1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9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FF8A-DAD8-834D-AE4A-CEC964D7D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895726"/>
            <a:ext cx="5181600" cy="5598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4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C9F72-B7B3-6D44-9364-86FD9657C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95726"/>
            <a:ext cx="5181600" cy="5598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5E35E40-053D-4ACE-F1CA-883F9C6EB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451AA1-458B-61CD-8ECF-5BCBA9AD1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992533-998A-22CB-88A4-2EDC1739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" y="11784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2800" b="1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93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669F7-4518-0E4D-B927-0E817597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76279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05444-7002-DA41-9211-B3C652187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86705"/>
            <a:ext cx="5157787" cy="49845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ED008-24E1-D64D-9943-FEBD2A024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76279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08586-E8D2-044C-9248-6166E6D52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86705"/>
            <a:ext cx="5183188" cy="49845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DEEE8C-53C0-7130-FB05-B9DA49085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8DC205C-9BCC-F4D7-AEDC-1F8DA3D78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C54B2-9F9B-BC51-6F7C-881B9DA9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" y="11784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2800" b="1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72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7CAB0-1D73-3746-B56E-2E85CF300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8938" y="771041"/>
            <a:ext cx="6881251" cy="601718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8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24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20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20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BB528-22F3-4044-A81E-6DA1D45BB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334" y="771041"/>
            <a:ext cx="4507127" cy="6017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1D5D886-2127-7DE2-3D0F-18CBE557B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47B54E-8710-4747-F56B-27982DA34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A9E45-1EC4-0EA2-EB60-328345C1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" y="-742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2800" b="1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0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A36F1-7A1E-7445-8327-C2FE44316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C3C0C3A-D831-FB4D-21F6-F3E90FB04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3482B65-B4E2-1D0F-AD02-1132D6E4F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DA2508-C1DA-6DB2-4547-6915E4AC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6" y="0"/>
            <a:ext cx="10515600" cy="556068"/>
          </a:xfrm>
          <a:prstGeom prst="rect">
            <a:avLst/>
          </a:prstGeom>
        </p:spPr>
        <p:txBody>
          <a:bodyPr anchor="ctr" anchorCtr="0"/>
          <a:lstStyle>
            <a:lvl1pPr>
              <a:defRPr lang="en-US" sz="2800" b="1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9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82AF1-676A-BA4A-87A5-CD8DF97DB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75101-907C-114D-91FD-B1A6A626A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A4630F-C478-AC67-A3B5-091DFDA3F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2620B9-EA14-75EE-89BE-2CFA17178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2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8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EAFACC-03AE-3984-C035-E976D6085E7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6E44F5-FF11-AC51-4C9F-51F67F8F17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47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D14B4-35D3-574A-B777-10B67C0AFA1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58240" y="159239"/>
            <a:ext cx="1428862" cy="305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F730E8-9EF8-22CC-7F3D-47AE9B029BE9}"/>
              </a:ext>
            </a:extLst>
          </p:cNvPr>
          <p:cNvSpPr/>
          <p:nvPr userDrawn="1"/>
        </p:nvSpPr>
        <p:spPr>
          <a:xfrm>
            <a:off x="0" y="6726923"/>
            <a:ext cx="12192000" cy="1310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E74FA21-99AA-1716-0E90-789FF09A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6126" y="66067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r>
              <a:rPr lang="en-US"/>
              <a:t>Private &amp; Confidential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0F4DA3F-D7DC-3A51-58C5-0BDD95E8B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3902" y="6606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286"/>
            <a:fld id="{F3EFA844-87CC-4B66-B1A8-1EAA74421C06}" type="slidenum">
              <a:rPr lang="en-US" smtClean="0"/>
              <a:pPr defTabSz="914286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1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7" r:id="rId3"/>
    <p:sldLayoutId id="2147483674" r:id="rId4"/>
    <p:sldLayoutId id="2147483675" r:id="rId5"/>
    <p:sldLayoutId id="2147483676" r:id="rId6"/>
    <p:sldLayoutId id="2147483679" r:id="rId7"/>
    <p:sldLayoutId id="2147483681" r:id="rId8"/>
    <p:sldLayoutId id="2147483682" r:id="rId9"/>
    <p:sldLayoutId id="2147483683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bg1">
              <a:lumMod val="50000"/>
            </a:schemeClr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dm.blumetra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631C-6EBC-EE4A-A83C-48E1FDE9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33" y="3429000"/>
            <a:ext cx="9265890" cy="8159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Reference Data Management Offering</a:t>
            </a:r>
          </a:p>
        </p:txBody>
      </p:sp>
    </p:spTree>
    <p:extLst>
      <p:ext uri="{BB962C8B-B14F-4D97-AF65-F5344CB8AC3E}">
        <p14:creationId xmlns:p14="http://schemas.microsoft.com/office/powerpoint/2010/main" val="347074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0FE2-2E4D-4FE6-44F3-EB41466B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42A74528-F5F1-F21A-F637-DD7F0DD7B6D6}"/>
              </a:ext>
            </a:extLst>
          </p:cNvPr>
          <p:cNvSpPr/>
          <p:nvPr/>
        </p:nvSpPr>
        <p:spPr>
          <a:xfrm>
            <a:off x="0" y="316757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Reference Data Management?</a:t>
            </a:r>
            <a:endParaRPr lang="en-US" dirty="0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7128FE89-1688-B69B-1AD7-1BA3214B418C}"/>
              </a:ext>
            </a:extLst>
          </p:cNvPr>
          <p:cNvSpPr/>
          <p:nvPr/>
        </p:nvSpPr>
        <p:spPr>
          <a:xfrm>
            <a:off x="0" y="5631121"/>
            <a:ext cx="12188952" cy="1225164"/>
          </a:xfrm>
          <a:prstGeom prst="rect">
            <a:avLst/>
          </a:prstGeom>
          <a:solidFill>
            <a:srgbClr val="14558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B6EF6D7B-75B2-F0BE-76CC-AF37AE12F6A1}"/>
              </a:ext>
            </a:extLst>
          </p:cNvPr>
          <p:cNvSpPr/>
          <p:nvPr/>
        </p:nvSpPr>
        <p:spPr>
          <a:xfrm>
            <a:off x="185530" y="5689706"/>
            <a:ext cx="11873948" cy="1109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data management ensures that the core building blocks of an organization's data ecosystem are accurate, consistent, and well-maintained, supporting daily operations, analytics, and regulatory compliance.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239F0E-E494-74BB-2F83-01ECA7CDC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30" y="1490833"/>
            <a:ext cx="6648177" cy="35081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Object 2">
            <a:extLst>
              <a:ext uri="{FF2B5EF4-FFF2-40B4-BE49-F238E27FC236}">
                <a16:creationId xmlns:a16="http://schemas.microsoft.com/office/drawing/2014/main" id="{AC54E697-74CC-0D75-5063-71E0C8E23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210912" y="1347197"/>
            <a:ext cx="604958" cy="464921"/>
          </a:xfrm>
          <a:prstGeom prst="rect">
            <a:avLst/>
          </a:prstGeom>
        </p:spPr>
      </p:pic>
      <p:pic>
        <p:nvPicPr>
          <p:cNvPr id="19" name="Object 5">
            <a:extLst>
              <a:ext uri="{FF2B5EF4-FFF2-40B4-BE49-F238E27FC236}">
                <a16:creationId xmlns:a16="http://schemas.microsoft.com/office/drawing/2014/main" id="{AC3EB376-9CB5-3E79-B271-FD9F4BB21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224916" y="2462923"/>
            <a:ext cx="576950" cy="392102"/>
          </a:xfrm>
          <a:prstGeom prst="rect">
            <a:avLst/>
          </a:prstGeom>
        </p:spPr>
      </p:pic>
      <p:pic>
        <p:nvPicPr>
          <p:cNvPr id="20" name="Object 8">
            <a:extLst>
              <a:ext uri="{FF2B5EF4-FFF2-40B4-BE49-F238E27FC236}">
                <a16:creationId xmlns:a16="http://schemas.microsoft.com/office/drawing/2014/main" id="{068BCA56-2D08-3043-F91A-83487340EA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7283731" y="3505830"/>
            <a:ext cx="459320" cy="520936"/>
          </a:xfrm>
          <a:prstGeom prst="rect">
            <a:avLst/>
          </a:prstGeom>
        </p:spPr>
      </p:pic>
      <p:pic>
        <p:nvPicPr>
          <p:cNvPr id="21" name="Object 11">
            <a:extLst>
              <a:ext uri="{FF2B5EF4-FFF2-40B4-BE49-F238E27FC236}">
                <a16:creationId xmlns:a16="http://schemas.microsoft.com/office/drawing/2014/main" id="{C25B1A29-BB7A-0807-BA87-558D6229E9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7275329" y="4675623"/>
            <a:ext cx="476124" cy="453718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2CAD8794-4E39-D749-CE60-E7912C3F77A4}"/>
              </a:ext>
            </a:extLst>
          </p:cNvPr>
          <p:cNvSpPr/>
          <p:nvPr/>
        </p:nvSpPr>
        <p:spPr>
          <a:xfrm>
            <a:off x="7999740" y="1226879"/>
            <a:ext cx="3982840" cy="231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  <a:buNone/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vocabularies</a:t>
            </a:r>
          </a:p>
          <a:p>
            <a:pPr>
              <a:lnSpc>
                <a:spcPts val="1814"/>
              </a:lnSpc>
            </a:pPr>
            <a:r>
              <a:rPr lang="en-US" sz="14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sets of terms and definitions to ensure consistent use of language</a:t>
            </a:r>
            <a:endParaRPr lang="en-US" dirty="0"/>
          </a:p>
          <a:p>
            <a:pPr>
              <a:lnSpc>
                <a:spcPts val="1814"/>
              </a:lnSpc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54B49C7A-F9E6-BEDF-DCD0-F5BD68875D41}"/>
              </a:ext>
            </a:extLst>
          </p:cNvPr>
          <p:cNvSpPr/>
          <p:nvPr/>
        </p:nvSpPr>
        <p:spPr>
          <a:xfrm>
            <a:off x="7999739" y="2346247"/>
            <a:ext cx="3683733" cy="231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</a:rPr>
              <a:t>Standardized codes</a:t>
            </a:r>
          </a:p>
          <a:p>
            <a:pPr>
              <a:lnSpc>
                <a:spcPts val="1814"/>
              </a:lnSpc>
            </a:pPr>
            <a:r>
              <a:rPr lang="en-US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codes to categorize and organize data consistently</a:t>
            </a:r>
            <a:endParaRPr lang="en-US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4FFC2E45-A61B-1998-937D-8ABE28CA5F8D}"/>
              </a:ext>
            </a:extLst>
          </p:cNvPr>
          <p:cNvSpPr/>
          <p:nvPr/>
        </p:nvSpPr>
        <p:spPr>
          <a:xfrm>
            <a:off x="7999740" y="3465615"/>
            <a:ext cx="3919869" cy="231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</a:rPr>
              <a:t>Taxonomies</a:t>
            </a:r>
          </a:p>
          <a:p>
            <a:pPr>
              <a:lnSpc>
                <a:spcPts val="1814"/>
              </a:lnSpc>
            </a:pPr>
            <a:r>
              <a:rPr lang="en-US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classification systems to structure and relate data elements</a:t>
            </a:r>
            <a:endParaRPr lang="en-US" dirty="0"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04E6B1C5-2322-097F-01B0-97385181FEEC}"/>
              </a:ext>
            </a:extLst>
          </p:cNvPr>
          <p:cNvSpPr/>
          <p:nvPr/>
        </p:nvSpPr>
        <p:spPr>
          <a:xfrm>
            <a:off x="7999740" y="4584982"/>
            <a:ext cx="4189212" cy="231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</a:rPr>
              <a:t>Standardized data elements</a:t>
            </a:r>
          </a:p>
          <a:p>
            <a:pPr>
              <a:lnSpc>
                <a:spcPts val="1814"/>
              </a:lnSpc>
            </a:pPr>
            <a:r>
              <a:rPr lang="en-US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types of reference data that support daily operations, analytics, and compliance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4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753396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Value of Reference Data Management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1158" y="1980549"/>
            <a:ext cx="999875" cy="828468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476607" y="3176984"/>
            <a:ext cx="2451122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Operational Efficiency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Object 4"/>
          <p:cNvSpPr/>
          <p:nvPr/>
        </p:nvSpPr>
        <p:spPr>
          <a:xfrm>
            <a:off x="476607" y="3723493"/>
            <a:ext cx="2451122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reference data ensures reliable data for daily business processes, reducing errors and improving productivity.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2040" y="1984684"/>
            <a:ext cx="961784" cy="790377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357675" y="3176984"/>
            <a:ext cx="2545396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Enhances Decision-Making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Object 7"/>
          <p:cNvSpPr/>
          <p:nvPr/>
        </p:nvSpPr>
        <p:spPr>
          <a:xfrm>
            <a:off x="3357675" y="3723493"/>
            <a:ext cx="2545396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 and trustworthy reference data enables better-informed strategic decisions and data-driven insights.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23355" y="1935914"/>
            <a:ext cx="866558" cy="866558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6207557" y="3176984"/>
            <a:ext cx="269728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Facilitates Collaboration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207557" y="3718448"/>
            <a:ext cx="2697282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centralized repository of reference data promotes seamless data sharing and integration across departments.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6642" y="1924759"/>
            <a:ext cx="580880" cy="895126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9266460" y="3176984"/>
            <a:ext cx="2440647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chemeClr val="accent4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Regulatory Compliance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9266460" y="3723493"/>
            <a:ext cx="2440647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reference data helps organizations meet industry-specific compliance requirements and maintain data traceability.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0" y="5351712"/>
            <a:ext cx="12188952" cy="1504574"/>
          </a:xfrm>
          <a:prstGeom prst="rect">
            <a:avLst/>
          </a:prstGeom>
          <a:solidFill>
            <a:srgbClr val="14558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Object 15"/>
          <p:cNvSpPr/>
          <p:nvPr/>
        </p:nvSpPr>
        <p:spPr>
          <a:xfrm>
            <a:off x="314246" y="5668636"/>
            <a:ext cx="11560459" cy="863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maintaining the integrity and reliability of an organization's core data assets, reference data management enables better decision-making, improved operational efficiency, and stronger regulatory compliance, ultimately supporting the overall success of the enterprise.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>
            <a:extLst>
              <a:ext uri="{FF2B5EF4-FFF2-40B4-BE49-F238E27FC236}">
                <a16:creationId xmlns:a16="http://schemas.microsoft.com/office/drawing/2014/main" id="{C6AB1BD6-0016-11E6-515C-ED8B67706992}"/>
              </a:ext>
            </a:extLst>
          </p:cNvPr>
          <p:cNvSpPr/>
          <p:nvPr/>
        </p:nvSpPr>
        <p:spPr>
          <a:xfrm>
            <a:off x="463825" y="213270"/>
            <a:ext cx="11619109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2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RDM Solution Architecture - Representative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6EEA5-EF01-70A1-B2C2-214BD0D0B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838806"/>
            <a:ext cx="9982200" cy="56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2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5C00-BE07-F1F2-C656-0B99B180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314789BF-5871-55C4-E568-BD09AD4764CD}"/>
              </a:ext>
            </a:extLst>
          </p:cNvPr>
          <p:cNvSpPr/>
          <p:nvPr/>
        </p:nvSpPr>
        <p:spPr>
          <a:xfrm>
            <a:off x="0" y="381256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Blumetra’s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RDM Solution - DEMO</a:t>
            </a:r>
            <a:endParaRPr lang="en-US" dirty="0"/>
          </a:p>
        </p:txBody>
      </p:sp>
      <p:pic>
        <p:nvPicPr>
          <p:cNvPr id="17" name="Picture 16">
            <a:hlinkClick r:id="rId3"/>
            <a:extLst>
              <a:ext uri="{FF2B5EF4-FFF2-40B4-BE49-F238E27FC236}">
                <a16:creationId xmlns:a16="http://schemas.microsoft.com/office/drawing/2014/main" id="{90F7534B-43DD-18F7-6A89-322221631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455" y="1018830"/>
            <a:ext cx="8635410" cy="54579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32901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metra">
      <a:dk1>
        <a:srgbClr val="000000"/>
      </a:dk1>
      <a:lt1>
        <a:srgbClr val="FFFFFF"/>
      </a:lt1>
      <a:dk2>
        <a:srgbClr val="104867"/>
      </a:dk2>
      <a:lt2>
        <a:srgbClr val="E7E6E6"/>
      </a:lt2>
      <a:accent1>
        <a:srgbClr val="91CF50"/>
      </a:accent1>
      <a:accent2>
        <a:srgbClr val="F2A441"/>
      </a:accent2>
      <a:accent3>
        <a:srgbClr val="5E416E"/>
      </a:accent3>
      <a:accent4>
        <a:srgbClr val="2FAABB"/>
      </a:accent4>
      <a:accent5>
        <a:srgbClr val="F2C340"/>
      </a:accent5>
      <a:accent6>
        <a:srgbClr val="F05928"/>
      </a:accent6>
      <a:hlink>
        <a:srgbClr val="0095BE"/>
      </a:hlink>
      <a:folHlink>
        <a:srgbClr val="0095B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733961f-3905-40f7-bc55-6bff48f93d57">
      <UserInfo>
        <DisplayName>Rajesh Kodichath</DisplayName>
        <AccountId>24</AccountId>
        <AccountType/>
      </UserInfo>
    </SharedWithUsers>
    <lcf76f155ced4ddcb4097134ff3c332f xmlns="90e413ea-3603-4d01-9524-d684ddc14255">
      <Terms xmlns="http://schemas.microsoft.com/office/infopath/2007/PartnerControls"/>
    </lcf76f155ced4ddcb4097134ff3c332f>
    <TaxCatchAll xmlns="d733961f-3905-40f7-bc55-6bff48f93d57" xsi:nil="true"/>
    <_Flow_SignoffStatus xmlns="90e413ea-3603-4d01-9524-d684ddc142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490FB0B1D5C44A886C3F708C1FD342" ma:contentTypeVersion="18" ma:contentTypeDescription="Create a new document." ma:contentTypeScope="" ma:versionID="ee7075efc2bc485f0d3a2a0a86abc561">
  <xsd:schema xmlns:xsd="http://www.w3.org/2001/XMLSchema" xmlns:xs="http://www.w3.org/2001/XMLSchema" xmlns:p="http://schemas.microsoft.com/office/2006/metadata/properties" xmlns:ns2="90e413ea-3603-4d01-9524-d684ddc14255" xmlns:ns3="d733961f-3905-40f7-bc55-6bff48f93d57" targetNamespace="http://schemas.microsoft.com/office/2006/metadata/properties" ma:root="true" ma:fieldsID="2946983991565dab7ac154509f1fb4d3" ns2:_="" ns3:_="">
    <xsd:import namespace="90e413ea-3603-4d01-9524-d684ddc14255"/>
    <xsd:import namespace="d733961f-3905-40f7-bc55-6bff48f93d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413ea-3603-4d01-9524-d684ddc14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18979c7-01a9-4d24-92c9-c30ab5c230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3961f-3905-40f7-bc55-6bff48f93d5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35642f9e-6fc7-427b-ab0d-7c6b6638808f}" ma:internalName="TaxCatchAll" ma:showField="CatchAllData" ma:web="d733961f-3905-40f7-bc55-6bff48f93d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26BE0C-EFA2-4578-B4C5-5319764D900F}">
  <ds:schemaRefs>
    <ds:schemaRef ds:uri="61a47dc9-a25d-4341-911f-486ce367315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B33C033-8107-45FB-AEFD-8D0C8340D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A6AE8C-2B8F-4014-972D-B574CB8FE374}"/>
</file>

<file path=docProps/app.xml><?xml version="1.0" encoding="utf-8"?>
<Properties xmlns="http://schemas.openxmlformats.org/officeDocument/2006/extended-properties" xmlns:vt="http://schemas.openxmlformats.org/officeDocument/2006/docPropsVTypes">
  <TotalTime>27700</TotalTime>
  <Words>219</Words>
  <Application>Microsoft Macintosh PowerPoint</Application>
  <PresentationFormat>Widescreen</PresentationFormat>
  <Paragraphs>26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</vt:lpstr>
      <vt:lpstr>Montserrat</vt:lpstr>
      <vt:lpstr>1_Office Theme</vt:lpstr>
      <vt:lpstr>Reference Data Management Offering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Analytics Practice Deck</dc:title>
  <cp:lastModifiedBy>Satish Mallavolu</cp:lastModifiedBy>
  <cp:revision>250</cp:revision>
  <cp:lastPrinted>2022-04-07T20:24:26Z</cp:lastPrinted>
  <dcterms:modified xsi:type="dcterms:W3CDTF">2025-03-31T18:55:29Z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0x0101008A490FB0B1D5C44A886C3F708C1FD342</vt:lpwstr>
  </property>
</Properties>
</file>